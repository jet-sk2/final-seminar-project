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B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31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Entries</c:v>
                </c:pt>
              </c:strCache>
            </c:strRef>
          </c:tx>
          <c:spPr>
            <a:solidFill>
              <a:srgbClr val="1434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Claiming</c:v>
                </c:pt>
                <c:pt idx="1">
                  <c:v>Maiden Claim.</c:v>
                </c:pt>
                <c:pt idx="2">
                  <c:v>Maiden Sp.Wt.</c:v>
                </c:pt>
                <c:pt idx="3">
                  <c:v>Allowance</c:v>
                </c:pt>
                <c:pt idx="4">
                  <c:v>Opt. Claiming</c:v>
                </c:pt>
                <c:pt idx="5">
                  <c:v>Starter Allow.</c:v>
                </c:pt>
                <c:pt idx="6">
                  <c:v>Stakes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87095</c:v>
                </c:pt>
                <c:pt idx="1">
                  <c:v>35536</c:v>
                </c:pt>
                <c:pt idx="2">
                  <c:v>35132</c:v>
                </c:pt>
                <c:pt idx="3">
                  <c:v>25499</c:v>
                </c:pt>
                <c:pt idx="4">
                  <c:v>20957</c:v>
                </c:pt>
                <c:pt idx="5">
                  <c:v>17498</c:v>
                </c:pt>
                <c:pt idx="6">
                  <c:v>14104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8-456D-8E5B-4A9722DB27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1D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Top-rank win rate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Favorite</c:v>
                </c:pt>
                <c:pt idx="1">
                  <c:v>Log. Reg.</c:v>
                </c:pt>
                <c:pt idx="2">
                  <c:v>Rand. Forest</c:v>
                </c:pt>
                <c:pt idx="3">
                  <c:v>GBT</c:v>
                </c:pt>
                <c:pt idx="4">
                  <c:v>Neural 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31.1</c:v>
                </c:pt>
                <c:pt idx="2">
                  <c:v>32.299999999999997</c:v>
                </c:pt>
                <c:pt idx="3">
                  <c:v>34.799999999999997</c:v>
                </c:pt>
                <c:pt idx="4">
                  <c:v>33.200000000000003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AD-4E7F-8CDE-1A7DF91CD9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8"/>
        </c:scaling>
        <c:delete val="0"/>
        <c:axPos val="l"/>
        <c:majorGridlines>
          <c:spPr>
            <a:ln w="6350" cap="flat">
              <a:solidFill>
                <a:srgbClr val="DC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 Loss</c:v>
                </c:pt>
              </c:strCache>
            </c:strRef>
          </c:tx>
          <c:spPr>
            <a:solidFill>
              <a:srgbClr val="14342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Favorite</c:v>
                </c:pt>
                <c:pt idx="1">
                  <c:v>Log. Reg.</c:v>
                </c:pt>
                <c:pt idx="2">
                  <c:v>Rand. Forest</c:v>
                </c:pt>
                <c:pt idx="3">
                  <c:v>GBT</c:v>
                </c:pt>
                <c:pt idx="4">
                  <c:v>Neural Net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0.34849999999999998</c:v>
                </c:pt>
                <c:pt idx="1">
                  <c:v>0.3448</c:v>
                </c:pt>
                <c:pt idx="2">
                  <c:v>0.34749999999999998</c:v>
                </c:pt>
                <c:pt idx="3">
                  <c:v>0.33350000000000002</c:v>
                </c:pt>
                <c:pt idx="4">
                  <c:v>0.35439999999999999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49-44C0-AFCB-8BC6F95FA9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32"/>
        </c:scaling>
        <c:delete val="0"/>
        <c:axPos val="l"/>
        <c:majorGridlines>
          <c:spPr>
            <a:ln w="6350" cap="flat">
              <a:solidFill>
                <a:srgbClr val="DC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5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SEMINAR PROJECT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Win Probability of Horses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U.S. Thoroughbred Racing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Zack Majeski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349240"/>
            <a:ext cx="18288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Equibase 2023 Result Charts &amp; Past Performances  |  236K horse-race entries  |  31,746 races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Real-World KPIs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machine-learning system that predicts the probability of each horse winning a race, using only information available before the race starts.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Top-ranked horse win rate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races where the model's highest-probability horse actually wins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target: ≥ 35%  (vs. ~30% favorite baseline)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5669280" cy="786384"/>
          </a:xfrm>
          <a:prstGeom prst="roundRect">
            <a:avLst>
              <a:gd name="adj" fmla="val 697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222199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Betting ROI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2219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of a fixed $2 win-bet strategy on the model's top pick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054096"/>
            <a:ext cx="5669280" cy="786384"/>
          </a:xfrm>
          <a:prstGeom prst="roundRect">
            <a:avLst>
              <a:gd name="adj" fmla="val 697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31272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Loss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12724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Quality/calibration of predicted win probabilities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959352"/>
            <a:ext cx="5669280" cy="786384"/>
          </a:xfrm>
          <a:prstGeom prst="roundRect">
            <a:avLst>
              <a:gd name="adj" fmla="val 697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4032504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40325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the predicted top-3 finishing order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864608"/>
            <a:ext cx="5669280" cy="786384"/>
          </a:xfrm>
          <a:prstGeom prst="roundRect">
            <a:avLst>
              <a:gd name="adj" fmla="val 697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4937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Top-3 hit 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49377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actual winner is in the model's top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Users, Decisions, and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09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Handicappers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Bettors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624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analysts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200400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0815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Predictive-modeling researchers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224528"/>
            <a:ext cx="109728" cy="109728"/>
          </a:xfrm>
          <a:prstGeom prst="ellipse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1056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horse to select as the likely winner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791456"/>
            <a:ext cx="109728" cy="109728"/>
          </a:xfrm>
          <a:prstGeom prst="ellipse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67258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horses to include in exotic wagers (exacta, trifecta, superfecta)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5358384"/>
            <a:ext cx="109728" cy="109728"/>
          </a:xfrm>
          <a:prstGeom prst="ellipse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52395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horse looks undervalued relative to the public odds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1645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0574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0574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must be available before official post time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28072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28072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under 1 second per race card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55701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35570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race card may contain 8–12 races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43068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43068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run predictions multiple times daily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50566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50566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 must allow retraining on commodity hardware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Machine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outcomes depend on non-linear interactions between many factors — relationships too complex to hand-code into a rule.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03704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76856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effects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58768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Jockey effects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13832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86984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conditions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68896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42048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dynamics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23960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7112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suitability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79024" y="2148840"/>
            <a:ext cx="1536192" cy="914400"/>
          </a:xfrm>
          <a:prstGeom prst="roundRect">
            <a:avLst>
              <a:gd name="adj" fmla="val 6000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52176" y="222199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strength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F2F5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6576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NON-AI ALTERNATIVE, AND WHY IT FALLS SHORT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977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selection: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horse with the best speed figure or lowest morning-line odds. This is used directly as </a:t>
            </a: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this project.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572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interactions among variables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4937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9377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to changing race conditions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303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53035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to account for subtle historical patterns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5669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56692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single heuristic, not a calibrated probability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PARTS 4–8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Framing: Unit, Time, and Target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horse entered in one race equals one row per horse-race pair.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31720"/>
          <a:ext cx="4617720" cy="1097280"/>
        </p:xfrm>
        <a:graphic>
          <a:graphicData uri="http://schemas.openxmlformats.org/drawingml/2006/table">
            <a:tbl>
              <a:tblPr/>
              <a:tblGrid>
                <a:gridCol w="230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806440" y="1417320"/>
            <a:ext cx="5806440" cy="2148840"/>
          </a:xfrm>
          <a:prstGeom prst="roundRect">
            <a:avLst>
              <a:gd name="adj" fmla="val 3404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&amp; TASK TYPE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920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5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horse wins the race, else 0.  Secondary output: a ranking score = estimated win probability.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0" y="2514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Binary Classification   •   Secondary: Ranking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35040" y="28803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winner = horse listed as finishing first in the official chart, after any disqualifications become official.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4023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TIME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448056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before post time, using only info known in advance: official entries, past performance, announced track condition, morning-line odds. No post-race information is used.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379476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0" y="40233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HORIZON &amp; OUTCOME WINDOW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0" y="4480560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time (typically 1–5 min before post time) until the official result, realized ~1–3 min after the race starts. No forecasting beyond the race is required.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9 · NOTEBOOK ETL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Sources: Equibase 2023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30936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Equibase 2023 Free Dataset — Past Performances &amp; Result Charts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Equibase Company LLC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Result Charts.zip, 2023 PPs.zip, Equibase Parameters.xlsx (code dictionaries)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calendar-year release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archives sent directly by Equibase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dataset, provided by Equibase for academic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Charts are the primary source: they carry each race's official finish, running line, speed figure, and odds. They provide both the label and every horse/jockey/trainer's historical record (computed with a strict no-peeking-at-today rule). PP files supply exactly one pre-race input: each horse's morning-line odds.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178040" y="1417320"/>
            <a:ext cx="4434840" cy="896112"/>
          </a:xfrm>
          <a:prstGeom prst="roundRect">
            <a:avLst>
              <a:gd name="adj" fmla="val 6122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7360920" y="1490472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0" y="149047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(50-state) track codes recognized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78040" y="2404872"/>
            <a:ext cx="4434840" cy="896112"/>
          </a:xfrm>
          <a:prstGeom prst="roundRect">
            <a:avLst>
              <a:gd name="adj" fmla="val 6122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60920" y="2478024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4,314 / 4,906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0" y="2478024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Chart files kept (TB + USA only)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3392424"/>
            <a:ext cx="4434840" cy="896112"/>
          </a:xfrm>
          <a:prstGeom prst="roundRect">
            <a:avLst>
              <a:gd name="adj" fmla="val 6122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60920" y="3465576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4,698 / 5,919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144000" y="3465576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files kept (TB + USA only)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78040" y="4379976"/>
            <a:ext cx="4434840" cy="896112"/>
          </a:xfrm>
          <a:prstGeom prst="roundRect">
            <a:avLst>
              <a:gd name="adj" fmla="val 6122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60920" y="445312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235,965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144000" y="445312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horse-race entries across 31,746 races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78040" y="5367528"/>
            <a:ext cx="4434840" cy="896112"/>
          </a:xfrm>
          <a:prstGeom prst="roundRect">
            <a:avLst>
              <a:gd name="adj" fmla="val 6122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60920" y="544068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384,744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144000" y="544068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starter-rows (morning-line source)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11 · NOTEBOOK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Scale and Representativeness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Horse-race entries by class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91640"/>
          <a:ext cx="59436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calendar year  •  Jan 1 – Dec 31, 2023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75120" y="178308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03720" y="1856232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66760" y="1856232"/>
            <a:ext cx="3063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field size (horses/race), range 2–18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75120" y="2688336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03720" y="2761488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66760" y="2761488"/>
            <a:ext cx="3063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win rate - sanity check vs. ~1/field size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75120" y="3593592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03720" y="3666744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31,746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66760" y="3666744"/>
            <a:ext cx="30632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races in the training universe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4343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subgroups tracked throughout evaluation: dirt / turf / synthetic surface, maiden races, stakes races, sprint vs. route distance.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PARTS 12,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and Leakage Prevention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directly from official race results (no manual annotation). The official chart winner is final ground truth; stewards' inquiries or disqualifications are reflected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PATH 1 — FUTURE INFO IN A HORSE'S OWN STATS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historical aggregate (win %, in-the-money %, speed figures, jockey/trainer win rates, suitability scores) is computed as an expanding window over .shift(1): row t only ever sees rows strictly before it. A debut horse simply has no history; it's never backfilled from its own future starts.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PATH 2 — RANDOM TRAIN/TEST SPLITTING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train_test_split is used. The split is strictly chronological by calendar date, so a horse's later-season form can never leak backward into an earlier training fold.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discipline: </a:t>
            </a: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tote odds (post_dollar_odds), win payoff, official finish, post-race speed rating, and finish-call data are excluded from the feature set entirely. The only odds feature used is the pre-race morning-line odds.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Input Features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133916"/>
              </p:ext>
            </p:extLst>
          </p:nvPr>
        </p:nvGraphicFramePr>
        <p:xfrm>
          <a:off x="548640" y="1371600"/>
          <a:ext cx="7589520" cy="4206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conditions (pre-race)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Purse, distance, sprint/route bucket, class rating, field size, track condition, surface, race class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conditions (pre-race)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position, weight carried, age, sex, medication, equipment, claiming price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(pre-race)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Morning-line decimal odds, morning-line implied probability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 history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starts, win %, in-the-money %, avg. speed fig. (last 3/5), lifetime-best speed, avg. finish (last 5), days since last race, debut flag, horse×surface / ×distance / ×track win 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Jockey history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mounts, win %, in-the-money %, win % (last 50 mounts)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 history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starts, win %, win % (last 50 starts)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Trainer–horse combo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starts and prior wins for this specific trainer/horse pairing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371600"/>
            <a:ext cx="3246120" cy="1984248"/>
          </a:xfrm>
          <a:prstGeom prst="roundRect">
            <a:avLst>
              <a:gd name="adj" fmla="val 4000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9536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595360" y="2011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 in the feature table (235,965 rows)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241401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595360" y="2809188"/>
            <a:ext cx="2788920" cy="5558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columns after one-hot encoding (34 numeric + 7 categorical)</a:t>
            </a:r>
            <a:endParaRPr lang="en-US" sz="1100" dirty="0"/>
          </a:p>
        </p:txBody>
      </p:sp>
      <p:sp>
        <p:nvSpPr>
          <p:cNvPr id="4" name="Shape 7"/>
          <p:cNvSpPr/>
          <p:nvPr/>
        </p:nvSpPr>
        <p:spPr>
          <a:xfrm>
            <a:off x="8366760" y="3383280"/>
            <a:ext cx="3246120" cy="2730002"/>
          </a:xfrm>
          <a:prstGeom prst="roundRect">
            <a:avLst>
              <a:gd name="adj" fmla="val 3333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49640" y="3520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MISSINGNESS (pre-race features)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4964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horse_track_win_pct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44200" y="3886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39.9%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4964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44200" y="42153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49640" y="4544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trainer_horse_prior_wins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744200" y="4544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49640" y="4873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horse_distbucket_win_pct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744200" y="48737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549640" y="5202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horse_surface_win_pct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44200" y="52029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49640" y="550610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first-time-starter / first-time-at-X cases — imputed, not dropped. Morning-line odds coverage: 99.2%.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Train / Validation / Test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must generalize to races the model has never seen — so the split follows the calendar, not a random shuffle. All preprocessing (imputation, scaling, encoding) is fit on the training split 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– Aug 31, 2023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2971800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160,092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horse-race rows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21,933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873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21488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3E5C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 – Oct 31, 2023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3383280"/>
            <a:ext cx="2971800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41,776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6280" y="4114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horse-race rows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4434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5,540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26280" y="4873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5280" y="21488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5A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2834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 – Dec 31, 2023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3383280"/>
            <a:ext cx="2971800" cy="0"/>
          </a:xfrm>
          <a:prstGeom prst="line">
            <a:avLst/>
          </a:prstGeom>
          <a:noFill/>
          <a:ln w="9525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0" y="3566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34,097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0" y="4114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horse-race rows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0" y="4434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4,273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29600" y="48737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~68% / 18% / 14% split; models predict races that haven't happened yet.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PARTS 16–17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and Evaluation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365760" cy="365760"/>
          </a:xfrm>
          <a:prstGeom prst="ellipse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Favorite (rule-based)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horse with the lowest morning-line odds. No learning; the heuristic named directly in the task framing.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1618488"/>
            <a:ext cx="365760" cy="365760"/>
          </a:xfrm>
          <a:prstGeom prst="ellipse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over the full pre-race feature set, fit the same way as every other model, isolating linear vs. non-linear.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83880" y="1618488"/>
            <a:ext cx="365760" cy="365760"/>
          </a:xfrm>
          <a:prstGeom prst="ellipse">
            <a:avLst/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83880" y="1618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83880" y="219456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Bagged-tree model with minimal tuning; how much a generic non-linear model buys without boosting or a neural net.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LOG LOSS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2793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probability quality and penalizes overconfident mistakes; directly useful for betting decisions.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rule: select the horse with the highest predicted win probability.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Any relative Log Loss improvement over logistic regression, and any increase in top-rank win rate.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7490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 TRACKED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279392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top-ranked horse  •  ROC-AUC  •  Brier score  •  NDCG@K  •  Top-3 hit rate  •  Betting ROI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PRIMARY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Network: A Race Is a Choice, Not N Coin Flips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per-horse binary classifier ignores that exactly one horse wins each race. Instead: a shared-weight MLP scores every horse, then a softmax across the horses in the same race turns those scores into win probabilities that sum to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feature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(per race)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80360" y="26060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C9A24B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Shared-weight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32120" y="26060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2606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606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across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horses in race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83880" y="260604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03920" y="260604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95360" y="2606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probabilities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 to 1)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log-probability assigned to the actual winner, averaged over races — the standard Plackett-Luce / conditional-logit top-1 model for choice problems. It directly optimizes what matters (identifying the winner in a field) and naturally handles field-size imbalance.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GRID SEARCH (SCORED ON VALIDATION LOG LOSS ONLY)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19472"/>
          <a:ext cx="10972800" cy="14173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3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3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3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3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Val. log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(64, 32)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selected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(128, 64, 32)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(32, 16)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(32,)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5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 · TEST SET (NOV–DEC 2023, EVALUATED ONCE)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Comparison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19659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Top-rank win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Favorite (rule-based)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E3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E3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AE3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Boosted Trees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3B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 and ROC-AUC columns: lower Log Loss / higher AUC is better. Left-aligned column = model name.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 win rate by model (%)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4114800"/>
          <a:ext cx="55778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3794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 by model (lower is better)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17920" y="4114800"/>
          <a:ext cx="55778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STATED SUCCESS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Models Succeed?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 win rate ≥ 35%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GBT: 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  </a:t>
            </a:r>
            <a:r>
              <a:rPr lang="en-US" sz="13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NN: 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33.2%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0195560" y="1778508"/>
            <a:ext cx="1143000" cy="512064"/>
          </a:xfrm>
          <a:prstGeom prst="roundRect">
            <a:avLst>
              <a:gd name="adj" fmla="val 50000"/>
            </a:avLst>
          </a:prstGeom>
          <a:solidFill>
            <a:srgbClr val="AE3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104120" y="1778508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MET (close)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 win rate - any increase vs. favorite baseline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GBT: </a:t>
            </a:r>
            <a:r>
              <a:rPr lang="en-US" sz="1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 pp</a:t>
            </a:r>
            <a:r>
              <a:rPr lang="en-US" sz="13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NN: </a:t>
            </a:r>
            <a:r>
              <a:rPr lang="en-US" sz="1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 pp</a:t>
            </a:r>
            <a:endParaRPr lang="en-US" sz="1300" dirty="0">
              <a:solidFill>
                <a:srgbClr val="00B05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195560" y="3012948"/>
            <a:ext cx="1143000" cy="512064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04120" y="3012948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Loss – any relative improvement vs. LR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9776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GBT: </a:t>
            </a:r>
            <a:r>
              <a:rPr lang="en-US" sz="1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+3.3%  </a:t>
            </a:r>
            <a:r>
              <a:rPr lang="en-US" sz="13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NN: 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−2.8%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195560" y="4247388"/>
            <a:ext cx="1143000" cy="51206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04120" y="4247388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 HONESTLY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321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is the strongest model overall, with lowest Log Loss, largest win-rate gain, and a positive ROI. The Neural Network beats the favorite on win rate and posts the best ROI of any model, but its Log Loss is higher than logistic regression: a Plackett-Luce objective optimizes for identifying the winner, not per-horse calibration, and that trade-off shows up here.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FEATURE IMPORTANCE (GAIN)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Drove the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average gain in the tuned XGBoost model — the market and a horse's own recent form dominate.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Morning-line decimal odds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244144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44144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avg. speed figure (last 5)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96265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296265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best lifetime speed figure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838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348386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40" y="348386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class rating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05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1560" y="4005072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34440" y="400507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win 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19202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75120" y="192024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192024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Jockey win % (last 50 mounts)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244144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0" y="2441448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in-the-money %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72200" y="29626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75120" y="296265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0" y="2962656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carried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72200" y="34838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75120" y="348386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0" y="3483864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win %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172200" y="4005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2200" y="4005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75120" y="4005072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2F5F1"/>
          </a:solidFill>
          <a:ln w="6350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8000" y="400507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avg. finish (last 5)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47091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pre-race betting-market odds remain the single strongest predictor, but recent speed-figure form, class level, and connections (jockey/trainer) each add distinct, non-redundant information; the core justification for a learned, multi-feature model over a single-heuristic baseline.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ERROR ANALYSIS &amp; BETTING ROI SIMULATION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Performance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by test Log Loss: Gradient Boosted Trees.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 win rate by field size: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391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 horses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 races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8745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20391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02152" y="2560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horses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02152" y="2834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1,703 races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18745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20391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72784" y="2560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horses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72784" y="2834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1,159 races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0536" y="18745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43416" y="20391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27.4%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43416" y="2560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horses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43416" y="28346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races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fields are harder to call; win rate drops from 41% (≤6 horses) to 27% (11+ horses).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0881360" cy="2514600"/>
          </a:xfrm>
          <a:prstGeom prst="roundRect">
            <a:avLst>
              <a:gd name="adj" fmla="val 2909"/>
            </a:avLst>
          </a:prstGeom>
          <a:solidFill>
            <a:srgbClr val="143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ROI SIMULATION: FLAT $2 WIN BET ON THE MODEL'S TOP PICK, EVERY TEST-SET RACE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27939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simple strategy. Not optimal wagering, just a consistent measurement across models.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709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D24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910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−18.2%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" y="5577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71800" y="4709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D24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71800" y="4910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−14.2%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971800" y="5577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20640" y="4709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D24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4910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−17.7%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120640" y="5577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Rand. Forest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269480" y="4709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D24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9480" y="4910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+5.7%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269480" y="5577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4709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D24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18320" y="4910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+11.6%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418320" y="5577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FRAMING · PART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27048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shift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56232"/>
            <a:ext cx="4946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conditions may not hold in future seasons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periodically; monitor live calibration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81928" y="1527048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efficiency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81928" y="1856232"/>
            <a:ext cx="4946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already factor in a lot of public information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81928" y="2286000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directly against the favorite; report ROI, not just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127248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Small-sample subgroups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3456432"/>
            <a:ext cx="4946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/ starter-allowance races are a small share of entries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886200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subgroup metrics alongside race counts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1928" y="3127248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81928" y="3456432"/>
            <a:ext cx="4946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 and NN are harder to explain than “bet the favorite”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1928" y="3886200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gain-based feature importance as an interpretability aid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727448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PP/Chart coverage gaps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5056632"/>
            <a:ext cx="4946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of entries lack morning-line odds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5486400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reported explicitly (99.2%), not hidden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4617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1"/>
          </a:solidFill>
          <a:ln w="9525">
            <a:solidFill>
              <a:srgbClr val="DC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81928" y="4727448"/>
            <a:ext cx="4946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81928" y="5056632"/>
            <a:ext cx="4946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 init affects results; random seeding could cause issues/inconsistencies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81928" y="5486400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Five-seed robustness run; seeds fixed; software versions pinned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TASK-FRAMING STATEMENT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10515600" cy="1965960"/>
          </a:xfrm>
          <a:prstGeom prst="roundRect">
            <a:avLst>
              <a:gd name="adj" fmla="val 3721"/>
            </a:avLst>
          </a:prstGeom>
          <a:solidFill>
            <a:srgbClr val="0D241D"/>
          </a:solidFill>
          <a:ln w="9525">
            <a:solidFill>
              <a:srgbClr val="3E5C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“Given horse past-performance data, race characteristics, past statistics, and track conditions available immediately before the start of the race, predict each horse's probability of winning for a horse-race entry over the period from race start until the official result is declared, to support handicapping and wagering decisions, evaluated by Log Loss and top-ranked win rate against favorite-selection and logistic-regression baselines, using a chronological train/validation/test split of Jan–Aug, Sep–Oct, and Nov–Dec 2023 U.S. Thoroughbred races.”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300" dirty="0">
                <a:solidFill>
                  <a:srgbClr val="D8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~230K historical horse-race entries were parsed directly from raw Equibase XML, a leakage-safe historical feature set was built (every aggregate strictly excludes the row's own outcome), and a rule-based favorite, logistic regression, random forest, gradient-boosted trees, and a Plackett-Luce neural network were compared on a test set none of them touched during training or tuning.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is the top-performing model overall, delivering a +2.8 pp win-rate gain and positive ROI over the favorite baseline, clearing most, of the key success criteria.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Prediction for U.S. Thoroughbred Racing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2753</Words>
  <Application>Microsoft Office PowerPoint</Application>
  <PresentationFormat>Widescreen</PresentationFormat>
  <Paragraphs>423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Zack Majeski</cp:lastModifiedBy>
  <cp:revision>2</cp:revision>
  <dcterms:created xsi:type="dcterms:W3CDTF">2026-07-16T00:37:17Z</dcterms:created>
  <dcterms:modified xsi:type="dcterms:W3CDTF">2026-07-16T01:11:27Z</dcterms:modified>
</cp:coreProperties>
</file>